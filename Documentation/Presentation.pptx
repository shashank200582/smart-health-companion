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1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3.svg" ContentType="image/svg+xml"/>
  <Override PartName="/ppt/media/image24.svg" ContentType="image/svg+xml"/>
  <Override PartName="/ppt/media/image26.svg" ContentType="image/svg+xml"/>
  <Override PartName="/ppt/media/image27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77" r:id="rId5"/>
    <p:sldId id="258" r:id="rId6"/>
    <p:sldId id="259" r:id="rId7"/>
    <p:sldId id="260" r:id="rId8"/>
    <p:sldId id="261" r:id="rId9"/>
    <p:sldId id="273" r:id="rId10"/>
    <p:sldId id="274" r:id="rId11"/>
    <p:sldId id="262" r:id="rId12"/>
    <p:sldId id="263" r:id="rId13"/>
    <p:sldId id="264" r:id="rId14"/>
    <p:sldId id="265" r:id="rId16"/>
    <p:sldId id="271" r:id="rId17"/>
    <p:sldId id="272" r:id="rId18"/>
    <p:sldId id="278" r:id="rId19"/>
    <p:sldId id="266" r:id="rId20"/>
    <p:sldId id="267" r:id="rId21"/>
    <p:sldId id="275" r:id="rId22"/>
    <p:sldId id="276" r:id="rId23"/>
    <p:sldId id="268" r:id="rId24"/>
  </p:sldIdLst>
  <p:sldSz cx="18288000" cy="10287000"/>
  <p:notesSz cx="6858000" cy="9144000"/>
  <p:embeddedFontLs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5" d="100"/>
          <a:sy n="45" d="100"/>
        </p:scale>
        <p:origin x="816" y="114"/>
      </p:cViewPr>
      <p:guideLst>
        <p:guide orient="horz" pos="2160"/>
        <p:guide pos="2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svg"/><Relationship Id="rId3" Type="http://schemas.openxmlformats.org/officeDocument/2006/relationships/image" Target="../media/image10.png"/><Relationship Id="rId2" Type="http://schemas.openxmlformats.org/officeDocument/2006/relationships/image" Target="../media/image14.sv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10.png"/><Relationship Id="rId2" Type="http://schemas.openxmlformats.org/officeDocument/2006/relationships/image" Target="../media/image20.sv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10.png"/><Relationship Id="rId2" Type="http://schemas.openxmlformats.org/officeDocument/2006/relationships/image" Target="../media/image23.sv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10.png"/><Relationship Id="rId2" Type="http://schemas.openxmlformats.org/officeDocument/2006/relationships/image" Target="../media/image26.sv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hyperlink" Target="https://arxiv.org/abs/2304.07789" TargetMode="External"/><Relationship Id="rId7" Type="http://schemas.openxmlformats.org/officeDocument/2006/relationships/hyperlink" Target="https://arxiv.org/search/eess?searchtype=author&amp;query=Stanislaus,+R+J" TargetMode="External"/><Relationship Id="rId6" Type="http://schemas.openxmlformats.org/officeDocument/2006/relationships/hyperlink" Target="https://arxiv.org/search/eess?searchtype=author&amp;query=Mishra,+A" TargetMode="External"/><Relationship Id="rId5" Type="http://schemas.openxmlformats.org/officeDocument/2006/relationships/hyperlink" Target="https://arxiv.org/abs/2312.01302" TargetMode="Externa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svg"/><Relationship Id="rId3" Type="http://schemas.openxmlformats.org/officeDocument/2006/relationships/image" Target="../media/image10.png"/><Relationship Id="rId2" Type="http://schemas.openxmlformats.org/officeDocument/2006/relationships/image" Target="../media/image14.sv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033218" y="5879173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4"/>
                </a:moveTo>
                <a:lnTo>
                  <a:pt x="0" y="6758254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4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6268" y="261691"/>
            <a:ext cx="1942403" cy="1890458"/>
          </a:xfrm>
          <a:custGeom>
            <a:avLst/>
            <a:gdLst/>
            <a:ahLst/>
            <a:cxnLst/>
            <a:rect l="l" t="t" r="r" b="b"/>
            <a:pathLst>
              <a:path w="1942403" h="1890458">
                <a:moveTo>
                  <a:pt x="0" y="0"/>
                </a:moveTo>
                <a:lnTo>
                  <a:pt x="1942403" y="0"/>
                </a:lnTo>
                <a:lnTo>
                  <a:pt x="1942403" y="1890458"/>
                </a:lnTo>
                <a:lnTo>
                  <a:pt x="0" y="18904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812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44614" y="570864"/>
            <a:ext cx="16398772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sz="3760" b="1" dirty="0">
                <a:solidFill>
                  <a:srgbClr val="545454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SIDDAGANGA INSTITUTE OF TECHNOLOGY, Tumakuru- 03</a:t>
            </a:r>
            <a:endParaRPr lang="en-US" sz="3760" b="1" dirty="0">
              <a:solidFill>
                <a:srgbClr val="545454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  <a:p>
            <a:pPr algn="ctr">
              <a:lnSpc>
                <a:spcPts val="3350"/>
              </a:lnSpc>
            </a:pPr>
            <a:endParaRPr lang="en-US" sz="3760" b="1" dirty="0">
              <a:solidFill>
                <a:srgbClr val="545454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  <a:p>
            <a:pPr algn="ctr">
              <a:lnSpc>
                <a:spcPts val="1895"/>
              </a:lnSpc>
            </a:pPr>
            <a:r>
              <a:rPr lang="en-US" sz="2015" dirty="0">
                <a:solidFill>
                  <a:srgbClr val="545454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      (An Autonomous institution affiliated to Visvesvaraya Technological University- Belagavi, Approved by AICTE, </a:t>
            </a:r>
            <a:endParaRPr lang="en-US" sz="2015" dirty="0">
              <a:solidFill>
                <a:srgbClr val="545454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algn="ctr">
              <a:lnSpc>
                <a:spcPts val="1895"/>
              </a:lnSpc>
            </a:pPr>
            <a:r>
              <a:rPr lang="en-US" sz="2015" dirty="0">
                <a:solidFill>
                  <a:srgbClr val="545454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       Accredited by NAAC with ‘A++’ Grade, Awarded Diamond College Rating by QS I-GAUGE &amp; ISO 9001:2015 certified)</a:t>
            </a:r>
            <a:endParaRPr lang="en-US" sz="2015" dirty="0">
              <a:solidFill>
                <a:srgbClr val="545454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algn="ctr">
              <a:lnSpc>
                <a:spcPts val="1895"/>
              </a:lnSpc>
            </a:pPr>
            <a:endParaRPr lang="en-US" sz="2015" dirty="0">
              <a:solidFill>
                <a:srgbClr val="545454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61241" y="6104255"/>
            <a:ext cx="10765517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</a:pPr>
            <a:r>
              <a:rPr lang="en-US" sz="256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Department of Electronics and Telecommunication Engineering</a:t>
            </a:r>
            <a:endParaRPr lang="en-US" sz="256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ctr">
              <a:lnSpc>
                <a:spcPts val="1050"/>
              </a:lnSpc>
            </a:pPr>
            <a:endParaRPr lang="en-US" sz="256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70269" y="2324920"/>
            <a:ext cx="15147463" cy="216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406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MINI PROJECT PRESENTATION</a:t>
            </a:r>
            <a:endParaRPr lang="en-US" sz="406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ctr">
              <a:lnSpc>
                <a:spcPts val="2890"/>
              </a:lnSpc>
            </a:pPr>
            <a:endParaRPr lang="en-US" sz="406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ctr">
              <a:lnSpc>
                <a:spcPts val="4000"/>
              </a:lnSpc>
            </a:pPr>
            <a:r>
              <a:rPr lang="en-US" sz="396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“SMART HEALTH COMPANION : A Wearable Health Monitoring System”</a:t>
            </a:r>
            <a:endParaRPr lang="en-US" sz="3960" b="1" dirty="0">
              <a:solidFill>
                <a:srgbClr val="000000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  <a:p>
            <a:pPr algn="ctr">
              <a:lnSpc>
                <a:spcPts val="1330"/>
              </a:lnSpc>
            </a:pPr>
            <a:endParaRPr lang="en-US" sz="3960" b="1" dirty="0">
              <a:solidFill>
                <a:srgbClr val="000000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44614" y="4061900"/>
            <a:ext cx="16398772" cy="228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69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235"/>
              </a:lnSpc>
            </a:pPr>
            <a:r>
              <a:rPr lang="en-US" sz="286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Under the guidance of</a:t>
            </a:r>
            <a:endParaRPr lang="en-US" sz="286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ctr">
              <a:lnSpc>
                <a:spcPts val="4135"/>
              </a:lnSpc>
            </a:pPr>
            <a:r>
              <a:rPr lang="en-US" sz="366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Dr Mallikarjun B C </a:t>
            </a:r>
            <a:endParaRPr lang="en-US" sz="366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ctr">
              <a:lnSpc>
                <a:spcPts val="3235"/>
              </a:lnSpc>
            </a:pPr>
            <a:r>
              <a:rPr lang="en-US" sz="286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Associate Professor</a:t>
            </a:r>
            <a:endParaRPr lang="en-US" sz="286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ctr">
              <a:lnSpc>
                <a:spcPts val="1705"/>
              </a:lnSpc>
            </a:pPr>
            <a:endParaRPr lang="en-US" sz="286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011900" y="6536445"/>
            <a:ext cx="6637655" cy="3070225"/>
            <a:chOff x="0" y="-57150"/>
            <a:chExt cx="8850208" cy="3732305"/>
          </a:xfrm>
        </p:grpSpPr>
        <p:sp>
          <p:nvSpPr>
            <p:cNvPr id="14" name="TextBox 14"/>
            <p:cNvSpPr txBox="1"/>
            <p:nvPr/>
          </p:nvSpPr>
          <p:spPr>
            <a:xfrm>
              <a:off x="2292522" y="-57150"/>
              <a:ext cx="3897114" cy="1226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20"/>
                </a:lnSpc>
                <a:spcBef>
                  <a:spcPct val="0"/>
                </a:spcBef>
              </a:pPr>
              <a:r>
                <a:rPr lang="en-US" sz="2945" b="1" dirty="0">
                  <a:solidFill>
                    <a:srgbClr val="000000"/>
                  </a:solidFill>
                  <a:latin typeface="Times New Roman" panose="02020603050405020304" pitchFamily="18" charset="0"/>
                  <a:ea typeface="Garet Bold"/>
                  <a:cs typeface="Times New Roman" panose="02020603050405020304" pitchFamily="18" charset="0"/>
                  <a:sym typeface="Garet Bold"/>
                </a:rPr>
                <a:t>SUBMITTED BY:</a:t>
              </a:r>
              <a:endParaRPr lang="en-US" sz="2945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179490"/>
              <a:ext cx="4635501" cy="2409981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algn="just">
                <a:lnSpc>
                  <a:spcPts val="3805"/>
                </a:lnSpc>
              </a:pPr>
              <a:r>
                <a:rPr lang="en-US" sz="2715" dirty="0">
                  <a:solidFill>
                    <a:srgbClr val="000000"/>
                  </a:solidFill>
                  <a:latin typeface="Times New Roman" panose="02020603050405020304" pitchFamily="18" charset="0"/>
                  <a:ea typeface="Garet"/>
                  <a:cs typeface="Times New Roman" panose="02020603050405020304" pitchFamily="18" charset="0"/>
                  <a:sym typeface="Garet"/>
                </a:rPr>
                <a:t>SANMATHI JAIN B J</a:t>
              </a:r>
              <a:endParaRPr lang="en-US" sz="2715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  <a:p>
              <a:pPr algn="just">
                <a:lnSpc>
                  <a:spcPts val="3805"/>
                </a:lnSpc>
              </a:pPr>
              <a:r>
                <a:rPr lang="en-US" sz="2715" dirty="0">
                  <a:solidFill>
                    <a:srgbClr val="000000"/>
                  </a:solidFill>
                  <a:latin typeface="Times New Roman" panose="02020603050405020304" pitchFamily="18" charset="0"/>
                  <a:ea typeface="Garet"/>
                  <a:cs typeface="Times New Roman" panose="02020603050405020304" pitchFamily="18" charset="0"/>
                  <a:sym typeface="Garet"/>
                </a:rPr>
                <a:t>SHASHANK H</a:t>
              </a:r>
              <a:endParaRPr lang="en-US" sz="2715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  <a:p>
              <a:pPr algn="just">
                <a:lnSpc>
                  <a:spcPts val="3805"/>
                </a:lnSpc>
              </a:pPr>
              <a:r>
                <a:rPr lang="en-US" sz="2715" dirty="0">
                  <a:solidFill>
                    <a:srgbClr val="000000"/>
                  </a:solidFill>
                  <a:latin typeface="Times New Roman" panose="02020603050405020304" pitchFamily="18" charset="0"/>
                  <a:ea typeface="Garet"/>
                  <a:cs typeface="Times New Roman" panose="02020603050405020304" pitchFamily="18" charset="0"/>
                  <a:sym typeface="Garet"/>
                </a:rPr>
                <a:t>SHASHANK T V</a:t>
              </a:r>
              <a:endParaRPr lang="en-US" sz="2715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  <a:p>
              <a:pPr algn="just">
                <a:lnSpc>
                  <a:spcPts val="3805"/>
                </a:lnSpc>
                <a:spcBef>
                  <a:spcPct val="0"/>
                </a:spcBef>
              </a:pPr>
              <a:r>
                <a:rPr lang="en-US" sz="2715" dirty="0">
                  <a:solidFill>
                    <a:srgbClr val="000000"/>
                  </a:solidFill>
                  <a:latin typeface="Times New Roman" panose="02020603050405020304" pitchFamily="18" charset="0"/>
                  <a:ea typeface="Garet"/>
                  <a:cs typeface="Times New Roman" panose="02020603050405020304" pitchFamily="18" charset="0"/>
                  <a:sym typeface="Garet"/>
                </a:rPr>
                <a:t>SHREYAS A JAIN     </a:t>
              </a:r>
              <a:endParaRPr lang="en-US" sz="2715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45481" y="1180262"/>
              <a:ext cx="3104727" cy="2494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0" lvl="0" indent="0" algn="ctr">
                <a:lnSpc>
                  <a:spcPts val="3805"/>
                </a:lnSpc>
                <a:spcBef>
                  <a:spcPct val="0"/>
                </a:spcBef>
              </a:pPr>
              <a:r>
                <a:rPr lang="en-US" sz="2715" u="none" strike="noStrike" dirty="0">
                  <a:solidFill>
                    <a:srgbClr val="000000"/>
                  </a:solidFill>
                  <a:latin typeface="Times New Roman" panose="02020603050405020304" pitchFamily="18" charset="0"/>
                  <a:ea typeface="Garet"/>
                  <a:cs typeface="Times New Roman" panose="02020603050405020304" pitchFamily="18" charset="0"/>
                  <a:sym typeface="Garet"/>
                </a:rPr>
                <a:t>1SI23ET043</a:t>
              </a:r>
              <a:endParaRPr lang="en-US" sz="2715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  <a:p>
              <a:pPr marL="0" lvl="0" indent="0" algn="ctr">
                <a:lnSpc>
                  <a:spcPts val="3805"/>
                </a:lnSpc>
                <a:spcBef>
                  <a:spcPct val="0"/>
                </a:spcBef>
              </a:pPr>
              <a:r>
                <a:rPr lang="en-US" sz="2715" u="none" strike="noStrike" dirty="0">
                  <a:solidFill>
                    <a:srgbClr val="000000"/>
                  </a:solidFill>
                  <a:latin typeface="Times New Roman" panose="02020603050405020304" pitchFamily="18" charset="0"/>
                  <a:ea typeface="Garet"/>
                  <a:cs typeface="Times New Roman" panose="02020603050405020304" pitchFamily="18" charset="0"/>
                  <a:sym typeface="Garet"/>
                </a:rPr>
                <a:t>1SI23ET044</a:t>
              </a:r>
              <a:endParaRPr lang="en-US" sz="2715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  <a:p>
              <a:pPr marL="0" lvl="0" indent="0" algn="ctr">
                <a:lnSpc>
                  <a:spcPts val="3805"/>
                </a:lnSpc>
                <a:spcBef>
                  <a:spcPct val="0"/>
                </a:spcBef>
              </a:pPr>
              <a:r>
                <a:rPr lang="en-US" sz="2715" u="none" strike="noStrike" dirty="0">
                  <a:solidFill>
                    <a:srgbClr val="000000"/>
                  </a:solidFill>
                  <a:latin typeface="Times New Roman" panose="02020603050405020304" pitchFamily="18" charset="0"/>
                  <a:ea typeface="Garet"/>
                  <a:cs typeface="Times New Roman" panose="02020603050405020304" pitchFamily="18" charset="0"/>
                  <a:sym typeface="Garet"/>
                </a:rPr>
                <a:t>1SI23ET045</a:t>
              </a:r>
              <a:endParaRPr lang="en-US" sz="2715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  <a:p>
              <a:pPr marL="0" lvl="0" indent="0" algn="ctr">
                <a:lnSpc>
                  <a:spcPts val="3805"/>
                </a:lnSpc>
                <a:spcBef>
                  <a:spcPct val="0"/>
                </a:spcBef>
              </a:pPr>
              <a:r>
                <a:rPr lang="en-US" sz="2715" u="none" strike="noStrike" dirty="0">
                  <a:solidFill>
                    <a:srgbClr val="000000"/>
                  </a:solidFill>
                  <a:latin typeface="Times New Roman" panose="02020603050405020304" pitchFamily="18" charset="0"/>
                  <a:ea typeface="Garet"/>
                  <a:cs typeface="Times New Roman" panose="02020603050405020304" pitchFamily="18" charset="0"/>
                  <a:sym typeface="Garet"/>
                </a:rPr>
                <a:t>1SI23ET047</a:t>
              </a:r>
              <a:endParaRPr lang="en-US" sz="2715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663865" y="323605"/>
            <a:ext cx="6960271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  <a:t>Content</a:t>
            </a:r>
            <a:endParaRPr lang="en-US" sz="9000" b="1" dirty="0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705691" y="1977898"/>
            <a:ext cx="10347475" cy="777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GB" alt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Problem Statement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GB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Introduction</a:t>
            </a:r>
            <a:endParaRPr lang="en-GB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Objectives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Motivation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Literature Survey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Methodology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GB" alt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Output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Implementation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Results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Conclusion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  <a:p>
            <a:pPr marL="798830" lvl="1" indent="-3994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700" dirty="0">
                <a:solidFill>
                  <a:srgbClr val="00000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References</a:t>
            </a:r>
            <a:endParaRPr lang="en-US" sz="3700" dirty="0">
              <a:solidFill>
                <a:srgbClr val="000000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58210" y="342900"/>
            <a:ext cx="11370945" cy="1468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GB" altLang="en-US" sz="70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PROBLEM STATEMENT</a:t>
            </a:r>
            <a:endParaRPr lang="en-GB" altLang="en-US" sz="7000" b="1" dirty="0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01</a:t>
            </a:r>
            <a:endParaRPr lang="en-GB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04800" y="2781300"/>
            <a:ext cx="17593310" cy="3923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1940" lvl="1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wearable health monitoring devices are often expensive, closed-source, and lack customization for academic research and elderly care applications. Many systems do not provide real-time cloud connectivity, emergency alert mechanisms, or affordability for widespread use. Hence, there is a need for a low-cost, compact, IoT-enabled wearable system that can continuously monitor vital health parameters and provide emergency alerts.</a:t>
            </a:r>
            <a:endParaRPr lang="en-US" alt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2731" y="107009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INTRODUCTION</a:t>
            </a:r>
            <a:endParaRPr lang="en-US" sz="8175" b="1" dirty="0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265172" y="1439832"/>
            <a:ext cx="11400286" cy="60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5"/>
              </a:lnSpc>
              <a:spcBef>
                <a:spcPct val="0"/>
              </a:spcBef>
            </a:pPr>
            <a:r>
              <a:rPr lang="en-US" sz="3670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Project Overview</a:t>
            </a:r>
            <a:endParaRPr lang="en-US" sz="3670" b="1" dirty="0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</a:t>
            </a: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334" y="2070695"/>
            <a:ext cx="18199332" cy="704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14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Companion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wearable IoT-based health monitoring device designed to continuously measure essential vital parameters.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914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rate, </a:t>
            </a:r>
            <a:r>
              <a:rPr lang="en-GB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₂, body temperature, and step count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compact hardware system built using </a:t>
            </a:r>
            <a:r>
              <a:rPr lang="en-GB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IndusCoin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V2 microcontroller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aret"/>
            </a:endParaRPr>
          </a:p>
          <a:p>
            <a:pPr marL="281940" lvl="1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aret"/>
              </a:rPr>
              <a:t> </a:t>
            </a:r>
            <a:endParaRPr lang="en-GB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aret"/>
            </a:endParaRPr>
          </a:p>
          <a:p>
            <a:pPr marL="281940" lvl="1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aret"/>
              </a:rPr>
              <a:t>      </a:t>
            </a: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Key Features:</a:t>
            </a:r>
            <a:endParaRPr lang="en-GB" sz="28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73914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measurement using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MAX30102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LM35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onboard accelerometer</a:t>
            </a: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aret"/>
              </a:rPr>
              <a:t>.</a:t>
            </a:r>
            <a:endParaRPr lang="en-GB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aret"/>
            </a:endParaRPr>
          </a:p>
          <a:p>
            <a:pPr marL="73914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for instant on-device monitoring.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914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MQTT- based cloud integration using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HiveMQ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914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for live data visualization and CSV Report.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914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SOS button for emergency alert triggering.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519447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OBJECTIVES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</a:t>
            </a: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7458" y="2095578"/>
            <a:ext cx="16553085" cy="489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5945" lvl="1" indent="-288290" algn="l">
              <a:lnSpc>
                <a:spcPts val="4775"/>
              </a:lnSpc>
              <a:buFont typeface="Arial" panose="020B0604020202020204"/>
              <a:buChar char="•"/>
            </a:pP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To design and develop a functional wearable health monitoring prototype.</a:t>
            </a:r>
            <a:endParaRPr lang="en-US" altLang="en-GB" sz="30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75945" lvl="1" indent="-288290" algn="l">
              <a:lnSpc>
                <a:spcPts val="4775"/>
              </a:lnSpc>
              <a:buFont typeface="Arial" panose="020B0604020202020204"/>
              <a:buChar char="•"/>
            </a:pP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To interface MAX30102 for accurate Heart Rate and SpO</a:t>
            </a:r>
            <a:r>
              <a:rPr lang="en-US" alt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₂</a:t>
            </a: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measurement.</a:t>
            </a:r>
            <a:endParaRPr lang="en-US" altLang="en-GB" sz="30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75945" lvl="1" indent="-288290" algn="l">
              <a:lnSpc>
                <a:spcPts val="4775"/>
              </a:lnSpc>
              <a:buFont typeface="Arial" panose="020B0604020202020204"/>
              <a:buChar char="•"/>
            </a:pP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To measure body temperature using LM35.</a:t>
            </a:r>
            <a:endParaRPr lang="en-US" altLang="en-GB" sz="30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75945" lvl="1" indent="-288290" algn="l">
              <a:lnSpc>
                <a:spcPts val="4775"/>
              </a:lnSpc>
              <a:buFont typeface="Arial" panose="020B0604020202020204"/>
              <a:buChar char="•"/>
            </a:pP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To implement step counting using the inbuilt accelerometer.</a:t>
            </a:r>
            <a:endParaRPr lang="en-US" altLang="en-GB" sz="30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75945" lvl="1" indent="-288290" algn="l">
              <a:lnSpc>
                <a:spcPts val="4775"/>
              </a:lnSpc>
              <a:buFont typeface="Arial" panose="020B0604020202020204"/>
              <a:buChar char="•"/>
            </a:pP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To display real-time vitals on a 1.3-inch OLED screen.</a:t>
            </a:r>
            <a:endParaRPr lang="en-US" altLang="en-GB" sz="30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75945" lvl="1" indent="-288290" algn="l">
              <a:lnSpc>
                <a:spcPts val="4775"/>
              </a:lnSpc>
              <a:buFont typeface="Arial" panose="020B0604020202020204"/>
              <a:buChar char="•"/>
            </a:pP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To publish live sensor data to the internet via HiveMQ MQTT Broker.</a:t>
            </a:r>
            <a:endParaRPr lang="en-US" altLang="en-GB" sz="30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75945" lvl="1" indent="-288290" algn="l">
              <a:lnSpc>
                <a:spcPts val="4775"/>
              </a:lnSpc>
              <a:buFont typeface="Arial" panose="020B0604020202020204"/>
              <a:buChar char="•"/>
            </a:pP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To build a website that shows real-time vitals and allows CSV download.</a:t>
            </a:r>
            <a:endParaRPr lang="en-US" altLang="en-GB" sz="30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75945" lvl="1" indent="-288290" algn="l">
              <a:lnSpc>
                <a:spcPts val="4775"/>
              </a:lnSpc>
              <a:buFont typeface="Arial" panose="020B0604020202020204"/>
              <a:buChar char="•"/>
            </a:pPr>
            <a:r>
              <a:rPr lang="en-US" altLang="en-GB" sz="30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To implement an SOS alert button for emergency notifications.</a:t>
            </a:r>
            <a:endParaRPr lang="en-US" altLang="en-GB" sz="3000" dirty="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633747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MOTIVATION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</a:t>
            </a: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06215" y="2476813"/>
            <a:ext cx="16875570" cy="415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375" lvl="1" indent="-29337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Increasing need for affordable wearable medical devices for elderly care.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87375" lvl="1" indent="-29337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Existing market devices are expensive and not customizable.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87375" lvl="1" indent="-29337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Remote health monitoring is essential for chronic patients and senior citizens.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87375" lvl="1" indent="-29337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Real-time tracking enables early detection of abnormalities and timely action.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587375" lvl="1" indent="-293370" algn="l">
              <a:lnSpc>
                <a:spcPct val="150000"/>
              </a:lnSpc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IoT advancements allow seamless cloud connectivity and data storage.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248403" y="2325459"/>
          <a:ext cx="15601641" cy="6305550"/>
        </p:xfrm>
        <a:graphic>
          <a:graphicData uri="http://schemas.openxmlformats.org/drawingml/2006/table">
            <a:tbl>
              <a:tblPr/>
              <a:tblGrid>
                <a:gridCol w="2549022"/>
                <a:gridCol w="2656517"/>
                <a:gridCol w="2745450"/>
                <a:gridCol w="7650652"/>
              </a:tblGrid>
              <a:tr h="919959"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Authors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Year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Paper Title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Remarks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56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Balachandra D S,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Maithreyee M S</a:t>
                      </a:r>
                      <a:endParaRPr 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 Bold"/>
                        <a:cs typeface="Times New Roman" panose="02020603050405020304" pitchFamily="18" charset="0"/>
                        <a:sym typeface="Garet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2023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Smart safety watch for elderly people and pregnant 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women</a:t>
                      </a:r>
                      <a:endParaRPr 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 Bold"/>
                        <a:cs typeface="Times New Roman" panose="02020603050405020304" pitchFamily="18" charset="0"/>
                        <a:sym typeface="Garet Bold"/>
                      </a:endParaRPr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 Bold"/>
                        <a:cs typeface="Times New Roman" panose="02020603050405020304" pitchFamily="18" charset="0"/>
                        <a:sym typeface="Garet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Methodology: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Two Arduinos, Bluetooth module,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sensors,Flutter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app handled heavy processing.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Result: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Fall detection, SpO2 monitoring, and panic alerts with location messaging were predicted correctly. 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Research Gaps: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Large size, high energy consumption, poor GPS accuracy, and reliance on two Arduino boards. 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903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Anshuman Mishra, Richards Joe Stanislaus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2023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Smart Watch Supported System for Health Care Monitoring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Methodology: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Arduino UNO gathered vital data; ESP8266 sent it to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ThingSpeak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; managed wheelchair with joystick.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Result: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Developed a smartwatch system successfully controlling a wheelchair and monitoring remote patient health.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Research Gaps: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Design relies on Arduino and external ESP8266; large size; limited discussion on sensor accuracy/power optimization. 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086416" y="370554"/>
            <a:ext cx="1211516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LITERATUTRE SURVEY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</a:t>
            </a: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248403" y="2325459"/>
          <a:ext cx="15601641" cy="6305550"/>
        </p:xfrm>
        <a:graphic>
          <a:graphicData uri="http://schemas.openxmlformats.org/drawingml/2006/table">
            <a:tbl>
              <a:tblPr/>
              <a:tblGrid>
                <a:gridCol w="2549022"/>
                <a:gridCol w="2656517"/>
                <a:gridCol w="2745450"/>
                <a:gridCol w="7650652"/>
              </a:tblGrid>
              <a:tr h="919959"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Authors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Year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Paper Title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Remarks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56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GB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M.M.Hosseini</a:t>
                      </a:r>
                      <a:endParaRPr lang="en-GB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 Bold"/>
                        <a:cs typeface="Times New Roman" panose="02020603050405020304" pitchFamily="18" charset="0"/>
                        <a:sym typeface="Garet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2023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GB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Role of Smartwatches in Healthcare and Medicine</a:t>
                      </a:r>
                      <a:endParaRPr lang="en-GB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 Bold"/>
                        <a:cs typeface="Times New Roman" panose="02020603050405020304" pitchFamily="18" charset="0"/>
                        <a:sym typeface="Garet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Methodology: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Reviewed healthcare applications of smartwatches using heart rate, SpO</a:t>
                      </a:r>
                      <a:r>
                        <a:rPr lang="en-US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₂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, and motion sensors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.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Result: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Smartwatches reliably support continuous health monitoring and early disease detectio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n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. 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Research Gaps: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High cost and limited customization restrict use for elderly-focused application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s .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903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GB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R.K.Kher</a:t>
                      </a:r>
                      <a:endParaRPr lang="en-GB" alt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202</a:t>
                      </a:r>
                      <a:r>
                        <a:rPr lang="en-GB" alt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1</a:t>
                      </a:r>
                      <a:endParaRPr lang="en-GB" altLang="en-US" sz="22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GB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Wearable Health Monitoring Systems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Methodology: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Surveyed wearable devices and compared sensors and IoT-based cloud communication technique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s .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Result: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Wearables enable continuous, non-invasive monitoring with effective remote data acces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s .</a:t>
                      </a:r>
                      <a:endParaRPr lang="en-US" altLang="en-GB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Research Gaps: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Power consumption, comfort, and data security remain major challenge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s .</a:t>
                      </a:r>
                      <a:endParaRPr lang="en-GB" alt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086416" y="370554"/>
            <a:ext cx="1211516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LITERATUTRE SURVEY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06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248403" y="2325459"/>
          <a:ext cx="15601641" cy="6305550"/>
        </p:xfrm>
        <a:graphic>
          <a:graphicData uri="http://schemas.openxmlformats.org/drawingml/2006/table">
            <a:tbl>
              <a:tblPr/>
              <a:tblGrid>
                <a:gridCol w="2549022"/>
                <a:gridCol w="2656517"/>
                <a:gridCol w="2745450"/>
                <a:gridCol w="7650652"/>
              </a:tblGrid>
              <a:tr h="919959"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Authors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Year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Paper Title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Remarks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656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GB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J.O.Olmedo-Aguirre</a:t>
                      </a:r>
                      <a:endParaRPr lang="en-GB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 Bold"/>
                        <a:cs typeface="Times New Roman" panose="02020603050405020304" pitchFamily="18" charset="0"/>
                        <a:sym typeface="Garet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202</a:t>
                      </a:r>
                      <a:r>
                        <a:rPr lang="en-GB" alt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2</a:t>
                      </a:r>
                      <a:endParaRPr lang="en-GB" altLang="en-US" sz="22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GB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Remote Healthcare for Elderly People using Wearables</a:t>
                      </a:r>
                      <a:endParaRPr lang="en-GB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 Bold"/>
                        <a:cs typeface="Times New Roman" panose="02020603050405020304" pitchFamily="18" charset="0"/>
                        <a:sym typeface="Garet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Methodology: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Analyzed elderly-care wearable systems with vital sign and activity monitorin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g .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Result: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Wearables improved elderly safety and reduced hospital visits through remote monitorin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g .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Research Gaps: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Lack of integrated SOS alert and real-time on-device displa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y .</a:t>
                      </a:r>
                      <a:endParaRPr lang="en-GB" alt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903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GB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G.P.M.Pinheiro</a:t>
                      </a:r>
                      <a:endParaRPr lang="en-GB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202</a:t>
                      </a:r>
                      <a:r>
                        <a:rPr lang="en-GB" altLang="en-US" sz="2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4</a:t>
                      </a:r>
                      <a:endParaRPr lang="en-GB" altLang="en-US" sz="22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GB" alt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Smart Band for Vital Signs Monitoring using MAX30102 </a:t>
                      </a:r>
                      <a:endParaRPr lang="en-GB" alt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Methodology: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Developed a smart band using MAX30102 and ESP32 for heart rate and SpO</a:t>
                      </a:r>
                      <a:r>
                        <a:rPr lang="en-US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₂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monitorin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g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.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Result: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Achieved high accuracy in vital sign measurement with cloud connectivit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y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.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Research Gaps: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</a:t>
                      </a:r>
                      <a:r>
                        <a:rPr lang="en-US" altLang="en-GB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Activity tracking and emergency alert features were not include</a:t>
                      </a:r>
                      <a:r>
                        <a:rPr lang="en-GB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d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. </a:t>
                      </a:r>
                      <a:endParaRPr lang="en-US" sz="18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Garet"/>
                        <a:cs typeface="Times New Roman" panose="02020603050405020304" pitchFamily="18" charset="0"/>
                        <a:sym typeface="Gare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086416" y="370554"/>
            <a:ext cx="1211516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LITERATUTRE SURVEY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07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81827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541415" y="-810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 dirty="0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METHODOLOGY</a:t>
            </a:r>
            <a:endParaRPr lang="en-US" sz="8175" b="1" dirty="0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278161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08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752600" y="2019300"/>
            <a:ext cx="14550390" cy="54965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Approach:</a:t>
            </a:r>
            <a:endParaRPr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60000"/>
              </a:spcAft>
              <a:buAutoNum type="arabicPeriod"/>
            </a:pPr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Setup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60000"/>
              </a:spcAft>
              <a:buAutoNum type="arabicPeriod"/>
            </a:pPr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Acquisition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60000"/>
              </a:spcAft>
              <a:buAutoNum type="arabicPeriod"/>
            </a:pPr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60000"/>
              </a:spcAft>
              <a:buAutoNum type="arabicPeriod"/>
            </a:pPr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IoT Communication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60000"/>
              </a:spcAft>
              <a:buAutoNum type="arabicPeriod"/>
            </a:pPr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Integration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Aft>
                <a:spcPct val="60000"/>
              </a:spcAft>
              <a:buAutoNum type="arabicPeriod"/>
            </a:pPr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SOS Function</a:t>
            </a:r>
            <a:endParaRPr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209573" y="452076"/>
            <a:ext cx="9868853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IMPLEMENTATION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09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rcRect l="33750" t="26667" r="24375" b="18889"/>
          <a:stretch>
            <a:fillRect/>
          </a:stretch>
        </p:blipFill>
        <p:spPr>
          <a:xfrm>
            <a:off x="4876800" y="2095500"/>
            <a:ext cx="8799830" cy="6343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236498" y="1411814"/>
          <a:ext cx="13815004" cy="7466219"/>
        </p:xfrm>
        <a:graphic>
          <a:graphicData uri="http://schemas.openxmlformats.org/drawingml/2006/table">
            <a:tbl>
              <a:tblPr/>
              <a:tblGrid>
                <a:gridCol w="3595914"/>
                <a:gridCol w="3595914"/>
                <a:gridCol w="6623176"/>
              </a:tblGrid>
              <a:tr h="84249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Category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Metric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Result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056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Data Output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Sensor Readings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Successfully reads, calculates, and outputs BPM, SpO2, Temperature, and Step Count (</a:t>
                      </a:r>
                      <a:r>
                        <a:rPr lang="en-GB" alt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4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 metrics).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65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Real-time Visualization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Local Display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OLED display shows the most recent reading for each of the four metrics simultaneously.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096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Remote Monitoring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Cloud Proof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Our dashboard successfully shows   three  synchronized charts , proving the Wi-Fi and data transmission logic works.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65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Validation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Temperature (LM35)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LM35 temperature readings were validated to be within 0.5°C of a reference thermometer.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688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Validation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Motion (MPU6050</a:t>
                      </a:r>
                      <a:r>
                        <a:rPr lang="en-GB" alt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 - inbuilt</a:t>
                      </a: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)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"/>
                          <a:cs typeface="Times New Roman" panose="02020603050405020304" pitchFamily="18" charset="0"/>
                          <a:sym typeface="Garet"/>
                        </a:rPr>
                        <a:t>MPU6050 accelerometer readings accurately reflect prototype movement(used for Step Count and Fall Detection Logic).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4541415" y="-152400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RESULTS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10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4541415" y="-342640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OUTPUT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11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rcRect t="17407" b="12321"/>
          <a:stretch>
            <a:fillRect/>
          </a:stretch>
        </p:blipFill>
        <p:spPr>
          <a:xfrm>
            <a:off x="3314065" y="1104900"/>
            <a:ext cx="11202035" cy="72288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343400" y="7658100"/>
            <a:ext cx="9144000" cy="1559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11450"/>
              </a:lnSpc>
            </a:pPr>
            <a:r>
              <a:rPr lang="en-GB" altLang="en-US" sz="3000" b="1" dirty="0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Figure 1: Home Tab of Smart Watch</a:t>
            </a:r>
            <a:endParaRPr lang="en-GB" altLang="en-US" sz="3000" b="1" dirty="0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12</a:t>
            </a:r>
            <a:endParaRPr lang="en-GB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rcRect l="12469" t="27778" b="13062"/>
          <a:stretch>
            <a:fillRect/>
          </a:stretch>
        </p:blipFill>
        <p:spPr>
          <a:xfrm>
            <a:off x="3657600" y="952500"/>
            <a:ext cx="10537190" cy="72313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267200" y="7658100"/>
            <a:ext cx="9144000" cy="1559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11450"/>
              </a:lnSpc>
            </a:pPr>
            <a:r>
              <a:rPr lang="en-GB" altLang="en-US" sz="3000" b="1" dirty="0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Figure 2: Health Dashboard</a:t>
            </a:r>
            <a:endParaRPr lang="en-GB" altLang="en-US" sz="3000" b="1" dirty="0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13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724400" y="7658100"/>
            <a:ext cx="9144000" cy="1559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11450"/>
              </a:lnSpc>
            </a:pPr>
            <a:r>
              <a:rPr lang="en-GB" altLang="en-US" sz="3000" b="1" dirty="0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Figure 3: SOS Alert</a:t>
            </a:r>
            <a:endParaRPr lang="en-GB" altLang="en-US" sz="3000" b="1" dirty="0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342900"/>
            <a:ext cx="7715250" cy="77800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14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724400" y="7658100"/>
            <a:ext cx="9144000" cy="1559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11450"/>
              </a:lnSpc>
            </a:pPr>
            <a:r>
              <a:rPr lang="en-GB" altLang="en-US" sz="3000" b="1" dirty="0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Figure 4: Cloud Health Dashboard</a:t>
            </a:r>
            <a:endParaRPr lang="en-GB" altLang="en-US" sz="3000" b="1" dirty="0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571500"/>
            <a:ext cx="10868025" cy="7886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161585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CONCLUSION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15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90697" y="3431560"/>
            <a:ext cx="15706606" cy="363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4840" lvl="1" indent="-312420" algn="l">
              <a:lnSpc>
                <a:spcPts val="405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Successfully built a complete wearable IoT health monitoring system.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624840" lvl="1" indent="-312420" algn="l">
              <a:lnSpc>
                <a:spcPts val="405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Achieved seamless integration of sensors, display, MQTT, and web dashboard.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624840" lvl="1" indent="-312420" algn="l">
              <a:lnSpc>
                <a:spcPts val="405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The system is stable, low-cost, and suitable for elderly monitoring.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624840" lvl="1" indent="-312420" algn="l">
              <a:lnSpc>
                <a:spcPts val="405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The modular design supports future upgrades like GPS, fall detection, mobile app, and data storage.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marL="624840" lvl="1" indent="-312420" algn="l">
              <a:lnSpc>
                <a:spcPts val="405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altLang="en-GB" sz="36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Demonstrates strong application of embedded systems, IoT, and real-time data analytics.</a:t>
            </a:r>
            <a:endParaRPr lang="en-US" altLang="en-GB" sz="36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526635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REFERENCES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16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559478"/>
            <a:ext cx="16160204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[1] Balachandra D S  , Maithreyee M S  , Saipavan B M , Shashank S  , Dr. P Devaki , Ms. </a:t>
            </a:r>
            <a:endParaRPr lang="en-US" sz="30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Ashwini M - </a:t>
            </a: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  <a:hlinkClick r:id="rId5" tooltip="https://arxiv.org/abs/2312.01302"/>
              </a:rPr>
              <a:t>arXiv:2312.01302</a:t>
            </a: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“Smart safety watch for elderly people and pregnant women” </a:t>
            </a:r>
            <a:endParaRPr lang="en-US" sz="30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  <a:hlinkClick r:id="rId5" tooltip="https://arxiv.org/abs/2312.01302"/>
              </a:rPr>
              <a:t>https://arxiv.org/abs/2312.01</a:t>
            </a: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302</a:t>
            </a: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[2] </a:t>
            </a: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  <a:hlinkClick r:id="rId6" tooltip="https://arxiv.org/search/eess?searchtype=author&amp;query=Mishra,+A"/>
              </a:rPr>
              <a:t>Anshuman Mishra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, </a:t>
            </a: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  <a:hlinkClick r:id="rId7" tooltip="https://arxiv.org/search/eess?searchtype=author&amp;query=Stanislaus,+R+J"/>
              </a:rPr>
              <a:t>Richards Joe Stanislaus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 -  </a:t>
            </a: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  <a:hlinkClick r:id="rId8" tooltip="https://arxiv.org/abs/2304.07789"/>
              </a:rPr>
              <a:t>arXiv:2304.07789</a:t>
            </a: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“Smart Watch Supported System for Health Care Monitoring”  </a:t>
            </a:r>
            <a:endParaRPr lang="en-US" sz="30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  <a:hlinkClick r:id="rId8" tooltip="https://arxiv.org/abs/2304.07789"/>
              </a:rPr>
              <a:t> https://arxiv.org/abs/</a:t>
            </a: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2304.07789</a:t>
            </a: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[3] Datasheet - https.//kaggle.com</a:t>
            </a: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526635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REFERENCES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17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559478"/>
            <a:ext cx="16160204" cy="592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[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4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] </a:t>
            </a:r>
            <a:r>
              <a:rPr lang="en-US" altLang="en-GB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M. M. Hosseini – Journal Review</a:t>
            </a: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“</a:t>
            </a:r>
            <a:r>
              <a:rPr lang="en-US" altLang="en-GB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Role of Smartwatches in Healthcare and Medicin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e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” </a:t>
            </a:r>
            <a:endParaRPr lang="en-US" sz="30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altLang="en-GB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https://doi.org/10.3390/s23073456</a:t>
            </a:r>
            <a:endParaRPr lang="en-US" altLang="en-GB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[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5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] </a:t>
            </a:r>
            <a:r>
              <a:rPr lang="en-US" altLang="en-GB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R. K. Kher – Open Biomedical Engineering Journa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l</a:t>
            </a:r>
            <a:endParaRPr lang="en-US" altLang="en-GB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“</a:t>
            </a:r>
            <a:r>
              <a:rPr lang="en-US" altLang="en-GB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Wearable Health Monitoring Systems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”  </a:t>
            </a:r>
            <a:endParaRPr lang="en-US" sz="30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altLang="en-GB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https://benthamopen.com</a:t>
            </a:r>
            <a:endParaRPr lang="en-US" altLang="en-GB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altLang="en-GB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526635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0"/>
              </a:lnSpc>
            </a:pPr>
            <a:r>
              <a:rPr lang="en-US" sz="8175" b="1">
                <a:solidFill>
                  <a:srgbClr val="3F3D3E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REFERENCES</a:t>
            </a:r>
            <a:endParaRPr lang="en-US" sz="8175" b="1">
              <a:solidFill>
                <a:srgbClr val="3F3D3E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5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0"/>
              </a:lnSpc>
              <a:spcBef>
                <a:spcPct val="0"/>
              </a:spcBef>
            </a:pPr>
            <a:r>
              <a:rPr lang="en-GB" altLang="en-US" sz="4745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18</a:t>
            </a:r>
            <a:endParaRPr lang="en-GB" altLang="en-US" sz="4745" b="1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559478"/>
            <a:ext cx="16160204" cy="4847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[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6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] </a:t>
            </a:r>
            <a:r>
              <a:rPr lang="en-US" altLang="en-GB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J. O. Olmedo-Aguirre – Remote Healthcare System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s</a:t>
            </a:r>
            <a:endParaRPr lang="en-US" altLang="en-GB" sz="30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“</a:t>
            </a:r>
            <a:r>
              <a:rPr lang="en-US" altLang="en-GB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Remote Healthcare for Elderly People Using Wearable Device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s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” </a:t>
            </a:r>
            <a:endParaRPr lang="en-US" sz="30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altLang="en-GB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https://www.mdpi.com/1424-8220/22/3/1012</a:t>
            </a:r>
            <a:endParaRPr lang="en-US" altLang="en-GB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[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7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] </a:t>
            </a:r>
            <a:r>
              <a:rPr lang="en-US" altLang="en-GB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G. P. M. Pinheiro – Sensors / Wearable System</a:t>
            </a:r>
            <a:r>
              <a:rPr lang="en-GB" alt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s</a:t>
            </a:r>
            <a:endParaRPr lang="en-US" altLang="en-GB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“</a:t>
            </a:r>
            <a:r>
              <a:rPr lang="en-US" altLang="en-GB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Smart Band for Vital Signs Monitoring Using MAX30102</a:t>
            </a:r>
            <a:r>
              <a:rPr lang="en-US" sz="300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”  </a:t>
            </a:r>
            <a:endParaRPr lang="en-US" sz="3000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altLang="en-GB" sz="3000" u="sng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https://www.mdpi.com/1424-8220/24/4/1345</a:t>
            </a:r>
            <a:endParaRPr lang="en-US" altLang="en-GB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sng">
              <a:solidFill>
                <a:srgbClr val="000000"/>
              </a:solidFill>
              <a:latin typeface="Times New Roman" panose="02020603050405020304" pitchFamily="18" charset="0"/>
              <a:ea typeface="Garet"/>
              <a:cs typeface="Times New Roman" panose="02020603050405020304" pitchFamily="18" charset="0"/>
              <a:sym typeface="Gare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89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5"/>
              </a:lnSpc>
            </a:pPr>
            <a:r>
              <a:rPr lang="en-US" sz="11505" b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THANK YOU</a:t>
            </a:r>
            <a:endParaRPr lang="en-US" sz="11505" b="1">
              <a:solidFill>
                <a:srgbClr val="3F3D3E"/>
              </a:solidFill>
              <a:latin typeface="Times New Roman" panose="02020603050405020304" pitchFamily="18" charset="0"/>
              <a:ea typeface="Alexandria Bold"/>
              <a:cs typeface="Times New Roman" panose="02020603050405020304" pitchFamily="18" charset="0"/>
              <a:sym typeface="Alexandria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7356</Words>
  <Application>WPS Presentation</Application>
  <PresentationFormat>Custom</PresentationFormat>
  <Paragraphs>325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SimSun</vt:lpstr>
      <vt:lpstr>Wingdings</vt:lpstr>
      <vt:lpstr>Times New Roman</vt:lpstr>
      <vt:lpstr>DM Sans Bold</vt:lpstr>
      <vt:lpstr>Segoe Print</vt:lpstr>
      <vt:lpstr>DM Sans</vt:lpstr>
      <vt:lpstr>Garet</vt:lpstr>
      <vt:lpstr>Garet Bold</vt:lpstr>
      <vt:lpstr>Arial</vt:lpstr>
      <vt:lpstr>Alexandria 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HEALTH COMPANION</dc:title>
  <dc:creator/>
  <cp:lastModifiedBy>Sanmathi Jain</cp:lastModifiedBy>
  <cp:revision>14</cp:revision>
  <dcterms:created xsi:type="dcterms:W3CDTF">2006-08-16T00:00:00Z</dcterms:created>
  <dcterms:modified xsi:type="dcterms:W3CDTF">2026-01-07T06:55:52Z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7DCD9758D3EF484C83636CA5237C98E3_13</vt:lpwstr>
  </property>
  <property fmtid="{D5CDD505-2E9C-101B-9397-08002B2CF9AE}" pid="3" name="KSOProductBuildVer">
    <vt:lpwstr>2057-12.2.0.23131</vt:lpwstr>
  </property>
</Properties>
</file>